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86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6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4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5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8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7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1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8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02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8931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25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40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86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18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5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811DC-9F54-426E-B0A0-7945CB4B9E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9CD3-ABA5-402E-B2A7-9F764E8B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32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5208" y="1468315"/>
            <a:ext cx="9144000" cy="107449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Algerian" panose="04020705040A02060702" pitchFamily="82" charset="0"/>
              </a:rPr>
              <a:t>Python Presentation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3613" y="2951677"/>
            <a:ext cx="5801516" cy="685800"/>
          </a:xfrm>
        </p:spPr>
        <p:txBody>
          <a:bodyPr>
            <a:noAutofit/>
          </a:bodyPr>
          <a:lstStyle/>
          <a:p>
            <a:r>
              <a:rPr lang="en-US" sz="2400" b="1" i="1" dirty="0" smtClean="0">
                <a:latin typeface="Arial Rounded MT Bold" panose="020F0704030504030204" pitchFamily="34" charset="0"/>
              </a:rPr>
              <a:t>Nested For Loop Control Instructions </a:t>
            </a:r>
          </a:p>
          <a:p>
            <a:pPr algn="ctr"/>
            <a:r>
              <a:rPr lang="en-US" sz="2400" b="1" i="1" dirty="0" smtClean="0">
                <a:latin typeface="Arial Rounded MT Bold" panose="020F0704030504030204" pitchFamily="34" charset="0"/>
              </a:rPr>
              <a:t>With an example :-</a:t>
            </a:r>
            <a:endParaRPr lang="en-US" sz="2400" b="1" i="1" dirty="0">
              <a:latin typeface="Arial Rounded MT Bold" panose="020F0704030504030204" pitchFamily="34" charset="0"/>
            </a:endParaRPr>
          </a:p>
        </p:txBody>
      </p:sp>
      <p:sp>
        <p:nvSpPr>
          <p:cNvPr id="5" name="Notched Right Arrow 4"/>
          <p:cNvSpPr/>
          <p:nvPr/>
        </p:nvSpPr>
        <p:spPr>
          <a:xfrm>
            <a:off x="2035908" y="2951677"/>
            <a:ext cx="1850291" cy="685800"/>
          </a:xfrm>
          <a:prstGeom prst="notchedRightArrow">
            <a:avLst/>
          </a:prstGeom>
          <a:solidFill>
            <a:srgbClr val="FFFF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607668" y="536331"/>
            <a:ext cx="3094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Name :- Karan .L. Sharma.</a:t>
            </a:r>
          </a:p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Bell MT" panose="02020503060305020303" pitchFamily="18" charset="0"/>
              </a:rPr>
              <a:t>PRN :- 202501100036.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64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r="9083"/>
          <a:stretch/>
        </p:blipFill>
        <p:spPr>
          <a:xfrm>
            <a:off x="7090996" y="2616817"/>
            <a:ext cx="4550020" cy="3168515"/>
          </a:xfrm>
        </p:spPr>
      </p:pic>
      <p:sp>
        <p:nvSpPr>
          <p:cNvPr id="6" name="Wave 5"/>
          <p:cNvSpPr/>
          <p:nvPr/>
        </p:nvSpPr>
        <p:spPr>
          <a:xfrm>
            <a:off x="7090996" y="2066196"/>
            <a:ext cx="2431074" cy="94077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77" y="606669"/>
            <a:ext cx="11271738" cy="22772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Bell MT" panose="02020503060305020303" pitchFamily="18" charset="0"/>
              </a:rPr>
              <a:t> </a:t>
            </a:r>
            <a:r>
              <a:rPr lang="en-US" sz="3600" b="1" dirty="0" smtClean="0">
                <a:latin typeface="Bell MT" panose="02020503060305020303" pitchFamily="18" charset="0"/>
              </a:rPr>
              <a:t>                                              LEARNING OBJECTIVES</a:t>
            </a:r>
            <a:br>
              <a:rPr lang="en-US" sz="3600" b="1" dirty="0" smtClean="0">
                <a:latin typeface="Bell MT" panose="02020503060305020303" pitchFamily="18" charset="0"/>
              </a:rPr>
            </a:br>
            <a:r>
              <a:rPr lang="en-US" sz="3600" b="1" dirty="0" smtClean="0"/>
              <a:t>                       </a:t>
            </a:r>
            <a:r>
              <a:rPr lang="en-US" sz="2200" b="1" i="1" dirty="0">
                <a:latin typeface="Bell MT" panose="02020503060305020303" pitchFamily="18" charset="0"/>
              </a:rPr>
              <a:t/>
            </a:r>
            <a:br>
              <a:rPr lang="en-US" sz="2200" b="1" i="1" dirty="0">
                <a:latin typeface="Bell MT" panose="02020503060305020303" pitchFamily="18" charset="0"/>
              </a:rPr>
            </a:br>
            <a:r>
              <a:rPr lang="en-US" sz="2200" b="1" i="1" dirty="0" smtClean="0">
                <a:latin typeface="Bell MT" panose="02020503060305020303" pitchFamily="18" charset="0"/>
              </a:rPr>
              <a:t>                                                                                            </a:t>
            </a:r>
            <a:br>
              <a:rPr lang="en-US" sz="2200" b="1" i="1" dirty="0" smtClean="0">
                <a:latin typeface="Bell MT" panose="02020503060305020303" pitchFamily="18" charset="0"/>
              </a:rPr>
            </a:br>
            <a:r>
              <a:rPr lang="en-US" sz="2200" b="1" i="1" dirty="0">
                <a:latin typeface="Bell MT" panose="02020503060305020303" pitchFamily="18" charset="0"/>
              </a:rPr>
              <a:t> </a:t>
            </a:r>
            <a:r>
              <a:rPr lang="en-US" sz="2200" b="1" i="1" dirty="0" smtClean="0">
                <a:latin typeface="Bell MT" panose="02020503060305020303" pitchFamily="18" charset="0"/>
              </a:rPr>
              <a:t>                                                                                                  </a:t>
            </a:r>
            <a:r>
              <a:rPr lang="en-US" sz="2000" b="1" i="1" dirty="0" smtClean="0">
                <a:latin typeface="Bell MT" panose="02020503060305020303" pitchFamily="18" charset="0"/>
              </a:rPr>
              <a:t>Mechanism of</a:t>
            </a:r>
            <a:br>
              <a:rPr lang="en-US" sz="2000" b="1" i="1" dirty="0" smtClean="0">
                <a:latin typeface="Bell MT" panose="02020503060305020303" pitchFamily="18" charset="0"/>
              </a:rPr>
            </a:br>
            <a:r>
              <a:rPr lang="en-US" sz="2000" b="1" i="1" dirty="0" smtClean="0">
                <a:latin typeface="Bell MT" panose="02020503060305020303" pitchFamily="18" charset="0"/>
              </a:rPr>
              <a:t>                                                                                                                          for loop                               </a:t>
            </a:r>
            <a:endParaRPr lang="en-US" sz="2200" b="1" i="1" dirty="0">
              <a:latin typeface="Bell MT" panose="02020503060305020303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630" y="2731173"/>
            <a:ext cx="6057901" cy="342344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 Understand nested loop structure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and working.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Break down problems using logical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analysis.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Design efficient solutions using loops.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Apply nested loops to patterns and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real- world problems.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640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470" y="250155"/>
            <a:ext cx="5662878" cy="1600200"/>
          </a:xfrm>
        </p:spPr>
        <p:txBody>
          <a:bodyPr/>
          <a:lstStyle/>
          <a:p>
            <a:r>
              <a:rPr lang="en-US" b="1" dirty="0" smtClean="0">
                <a:latin typeface="Bell MT" panose="02020503060305020303" pitchFamily="18" charset="0"/>
              </a:rPr>
              <a:t>ENGINEERING     KNOWLEDGE (CONCEPT)</a:t>
            </a:r>
            <a:endParaRPr lang="en-US" b="1" dirty="0">
              <a:latin typeface="Bell MT" panose="02020503060305020303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5315" t="-335" r="5741" b="8150"/>
          <a:stretch/>
        </p:blipFill>
        <p:spPr>
          <a:xfrm>
            <a:off x="6998677" y="2352556"/>
            <a:ext cx="4572421" cy="369028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2709" y="2352556"/>
            <a:ext cx="5521569" cy="309448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A loop is used to repeat a set of instructions.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Types of loops in Python: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For loop – fixed numbers of iterations.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While loop – condition-based execution.</a:t>
            </a:r>
          </a:p>
          <a:p>
            <a:r>
              <a:rPr lang="en-US" sz="2400" dirty="0" smtClean="0"/>
              <a:t>Loops help :-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Reduce code repetition.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Improve efficiency.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844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/>
          <p:cNvSpPr/>
          <p:nvPr/>
        </p:nvSpPr>
        <p:spPr>
          <a:xfrm>
            <a:off x="4038596" y="5125916"/>
            <a:ext cx="3004042" cy="527539"/>
          </a:xfrm>
          <a:prstGeom prst="flowChartTerminato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99543"/>
            <a:ext cx="8610600" cy="129302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Engineering knowledge</a:t>
            </a:r>
            <a:br>
              <a:rPr lang="en-US" sz="3200" b="1" dirty="0" smtClean="0">
                <a:latin typeface="Bell MT" panose="02020503060305020303" pitchFamily="18" charset="0"/>
              </a:rPr>
            </a:br>
            <a:r>
              <a:rPr lang="en-US" sz="3200" b="1" dirty="0" smtClean="0">
                <a:latin typeface="Bell MT" panose="02020503060305020303" pitchFamily="18" charset="0"/>
              </a:rPr>
              <a:t>(Nested loop concept)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5762" y="2674237"/>
            <a:ext cx="7244862" cy="40241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A nested loop is a loop inside another loop.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The inner loop executes completely for every iteration of the outer loop.</a:t>
            </a:r>
          </a:p>
          <a:p>
            <a:pPr marL="0" indent="0">
              <a:buNone/>
            </a:pPr>
            <a:r>
              <a:rPr lang="en-US" dirty="0" smtClean="0"/>
              <a:t>       Important Concept: </a:t>
            </a:r>
          </a:p>
          <a:p>
            <a:pPr lvl="1"/>
            <a:r>
              <a:rPr lang="en-US" dirty="0" smtClean="0"/>
              <a:t>If outer loop runs n times .</a:t>
            </a:r>
          </a:p>
          <a:p>
            <a:pPr lvl="1"/>
            <a:r>
              <a:rPr lang="en-US" dirty="0" smtClean="0"/>
              <a:t>Inner loop runs m times </a:t>
            </a:r>
          </a:p>
          <a:p>
            <a:pPr marL="457200" lvl="1" indent="0">
              <a:buNone/>
            </a:pP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      </a:t>
            </a:r>
          </a:p>
          <a:p>
            <a:pPr marL="457200" lvl="1" indent="0">
              <a:buNone/>
            </a:pP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      Total iterations = n * m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Notched Right Arrow 3"/>
          <p:cNvSpPr/>
          <p:nvPr/>
        </p:nvSpPr>
        <p:spPr>
          <a:xfrm>
            <a:off x="2250830" y="2479431"/>
            <a:ext cx="644770" cy="19480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1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Syntax &amp; structure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02412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Python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for </a:t>
            </a:r>
            <a:r>
              <a:rPr lang="en-US" dirty="0" err="1" smtClean="0"/>
              <a:t>i</a:t>
            </a:r>
            <a:r>
              <a:rPr lang="en-US" dirty="0" smtClean="0"/>
              <a:t> in range(n):                                        </a:t>
            </a:r>
          </a:p>
          <a:p>
            <a:pPr marL="0" indent="0">
              <a:buNone/>
            </a:pPr>
            <a:r>
              <a:rPr lang="en-US" dirty="0" smtClean="0"/>
              <a:t>           for j in range(m):           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#</a:t>
            </a:r>
            <a:r>
              <a:rPr lang="en-US" dirty="0"/>
              <a:t>statements                                                # Outer loop (rows</a:t>
            </a:r>
            <a:r>
              <a:rPr lang="en-US" dirty="0" smtClean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 smtClean="0"/>
              <a:t>i</a:t>
            </a:r>
            <a:r>
              <a:rPr lang="en-US" dirty="0" smtClean="0"/>
              <a:t> – controls outer loop (rows)                      </a:t>
            </a:r>
            <a:r>
              <a:rPr lang="en-US" dirty="0"/>
              <a:t># Inner loop (columns</a:t>
            </a:r>
            <a:r>
              <a:rPr lang="en-US" dirty="0" smtClean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j – controls inner loop (columns)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Indentation is very important in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Python.</a:t>
            </a:r>
          </a:p>
        </p:txBody>
      </p:sp>
      <p:cxnSp>
        <p:nvCxnSpPr>
          <p:cNvPr id="5" name="Elbow Connector 4"/>
          <p:cNvCxnSpPr/>
          <p:nvPr/>
        </p:nvCxnSpPr>
        <p:spPr>
          <a:xfrm>
            <a:off x="3710354" y="2730011"/>
            <a:ext cx="3622431" cy="75174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/>
          <p:cNvCxnSpPr/>
          <p:nvPr/>
        </p:nvCxnSpPr>
        <p:spPr>
          <a:xfrm>
            <a:off x="4132385" y="3209192"/>
            <a:ext cx="2171700" cy="71217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82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919548" y="2514601"/>
            <a:ext cx="4179277" cy="2822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Execution flow </a:t>
            </a:r>
            <a:br>
              <a:rPr lang="en-US" sz="3200" b="1" dirty="0" smtClean="0">
                <a:latin typeface="Bell MT" panose="02020503060305020303" pitchFamily="18" charset="0"/>
              </a:rPr>
            </a:br>
            <a:r>
              <a:rPr lang="en-US" sz="3200" b="1" dirty="0" smtClean="0">
                <a:latin typeface="Bell MT" panose="02020503060305020303" pitchFamily="18" charset="0"/>
              </a:rPr>
              <a:t>(deep Understanding)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Step-by-step flow: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err="1" smtClean="0"/>
              <a:t>i</a:t>
            </a:r>
            <a:r>
              <a:rPr lang="en-US" dirty="0" smtClean="0"/>
              <a:t> = 0          j = 0,1,2 (inner loop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completes).</a:t>
            </a:r>
          </a:p>
          <a:p>
            <a:pPr marL="457200" indent="-457200">
              <a:buAutoNum type="alphaLcParenR" startAt="2"/>
            </a:pPr>
            <a:r>
              <a:rPr lang="en-US" dirty="0" err="1" smtClean="0"/>
              <a:t>i</a:t>
            </a:r>
            <a:r>
              <a:rPr lang="en-US" dirty="0" smtClean="0"/>
              <a:t> = 1          j = 0,1,2 (inner loop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repeats).</a:t>
            </a:r>
          </a:p>
          <a:p>
            <a:pPr marL="0" indent="0">
              <a:buNone/>
            </a:pPr>
            <a:r>
              <a:rPr lang="en-US" dirty="0" smtClean="0"/>
              <a:t>        Inner loop runs multiple times for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each outer loop iteration.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90346" y="2760785"/>
            <a:ext cx="325315" cy="10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859" y="2644726"/>
            <a:ext cx="3824653" cy="2562079"/>
          </a:xfr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Example: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Python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smtClean="0">
                <a:solidFill>
                  <a:srgbClr val="FFFF00"/>
                </a:solidFill>
              </a:rPr>
              <a:t>            for </a:t>
            </a:r>
            <a:r>
              <a:rPr lang="en-US" b="1" dirty="0" err="1" smtClean="0">
                <a:solidFill>
                  <a:srgbClr val="FFFF00"/>
                </a:solidFill>
              </a:rPr>
              <a:t>i</a:t>
            </a:r>
            <a:r>
              <a:rPr lang="en-US" b="1" dirty="0" smtClean="0">
                <a:solidFill>
                  <a:srgbClr val="FFFF00"/>
                </a:solidFill>
              </a:rPr>
              <a:t>  in range(2):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smtClean="0">
                <a:solidFill>
                  <a:srgbClr val="FFFF00"/>
                </a:solidFill>
              </a:rPr>
              <a:t>                 for j in range(3):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smtClean="0">
                <a:solidFill>
                  <a:srgbClr val="FFFF00"/>
                </a:solidFill>
              </a:rPr>
              <a:t>                      print(</a:t>
            </a:r>
            <a:r>
              <a:rPr lang="en-US" b="1" dirty="0" err="1" smtClean="0">
                <a:solidFill>
                  <a:srgbClr val="FFFF00"/>
                </a:solidFill>
              </a:rPr>
              <a:t>i,j</a:t>
            </a:r>
            <a:r>
              <a:rPr lang="en-US" b="1" dirty="0" smtClean="0">
                <a:solidFill>
                  <a:srgbClr val="FFFF00"/>
                </a:solidFill>
              </a:rPr>
              <a:t>)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881554" y="3625362"/>
            <a:ext cx="325315" cy="102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iped Right Arrow 6"/>
          <p:cNvSpPr/>
          <p:nvPr/>
        </p:nvSpPr>
        <p:spPr>
          <a:xfrm>
            <a:off x="764931" y="4440114"/>
            <a:ext cx="501161" cy="15826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hevron 7"/>
          <p:cNvSpPr/>
          <p:nvPr/>
        </p:nvSpPr>
        <p:spPr>
          <a:xfrm>
            <a:off x="7429502" y="3590194"/>
            <a:ext cx="140676" cy="211016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19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Problem STATEMENT 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Task :-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Print a 4x4 square pattern using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stars.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This problem requires handling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rows and columns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simultaneously.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7" r="10494"/>
          <a:stretch/>
        </p:blipFill>
        <p:spPr>
          <a:xfrm>
            <a:off x="7060225" y="3305406"/>
            <a:ext cx="4774223" cy="1995854"/>
          </a:xfrm>
        </p:spPr>
      </p:pic>
      <p:sp>
        <p:nvSpPr>
          <p:cNvPr id="5" name="Right Arrow 4"/>
          <p:cNvSpPr/>
          <p:nvPr/>
        </p:nvSpPr>
        <p:spPr>
          <a:xfrm>
            <a:off x="808892" y="3604847"/>
            <a:ext cx="545123" cy="1582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56838" y="2400300"/>
            <a:ext cx="4747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Expected Output </a:t>
            </a:r>
            <a:endParaRPr lang="en-US" sz="2000" b="1" dirty="0"/>
          </a:p>
        </p:txBody>
      </p:sp>
      <p:sp>
        <p:nvSpPr>
          <p:cNvPr id="8" name="Notched Right Arrow 7"/>
          <p:cNvSpPr/>
          <p:nvPr/>
        </p:nvSpPr>
        <p:spPr>
          <a:xfrm>
            <a:off x="6620607" y="2918547"/>
            <a:ext cx="650631" cy="17639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Problem analysis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5599" y="2308860"/>
            <a:ext cx="6274777" cy="402412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Identify components:</a:t>
            </a:r>
          </a:p>
          <a:p>
            <a:pPr lvl="1"/>
            <a:r>
              <a:rPr lang="en-US" sz="2200" dirty="0"/>
              <a:t> </a:t>
            </a:r>
            <a:r>
              <a:rPr lang="en-US" sz="2200" dirty="0" smtClean="0"/>
              <a:t>Number of rows = 4.</a:t>
            </a:r>
          </a:p>
          <a:p>
            <a:pPr lvl="1"/>
            <a:r>
              <a:rPr lang="en-US" sz="2200" dirty="0" smtClean="0"/>
              <a:t>Number of columns = 4.</a:t>
            </a:r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      Logical Mapping:</a:t>
            </a:r>
          </a:p>
          <a:p>
            <a:pPr lvl="2"/>
            <a:r>
              <a:rPr lang="en-US" sz="2200" dirty="0" smtClean="0"/>
              <a:t>Outer loop &gt;&gt; controls rows.</a:t>
            </a:r>
          </a:p>
          <a:p>
            <a:pPr lvl="2"/>
            <a:r>
              <a:rPr lang="en-US" sz="2200" dirty="0" smtClean="0"/>
              <a:t>Inner loop &gt;&gt; controls columns.</a:t>
            </a:r>
          </a:p>
          <a:p>
            <a:pPr marL="914400" lvl="2" indent="0">
              <a:buNone/>
            </a:pPr>
            <a:endParaRPr lang="en-US" sz="2200" dirty="0" smtClean="0"/>
          </a:p>
          <a:p>
            <a:pPr marL="914400" lvl="2" indent="0">
              <a:buNone/>
            </a:pPr>
            <a:r>
              <a:rPr lang="en-US" sz="2200" dirty="0" smtClean="0"/>
              <a:t>Same output repeated &gt; fixed </a:t>
            </a:r>
          </a:p>
          <a:p>
            <a:pPr marL="914400" lvl="2" indent="0">
              <a:buNone/>
            </a:pPr>
            <a:r>
              <a:rPr lang="en-US" sz="2200" dirty="0" smtClean="0"/>
              <a:t>Pattern.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70738" y="3578467"/>
            <a:ext cx="536330" cy="167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270738" y="5015130"/>
            <a:ext cx="536330" cy="1617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6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Design of Solution (algorithm)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9430" y="2651760"/>
            <a:ext cx="6981092" cy="333580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Step-by-step algorithm :-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Start outer loop for rows (0 to 3).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Inside it, start inner loop for columns (0 to 3).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Print * in inner loop.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After inner loop ends &gt;&gt; move to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next line</a:t>
            </a:r>
          </a:p>
          <a:p>
            <a:pPr marL="0" indent="0" algn="just">
              <a:buNone/>
            </a:pPr>
            <a:r>
              <a:rPr lang="en-US" dirty="0" smtClean="0"/>
              <a:t>      This creates a structured grid output.</a:t>
            </a:r>
          </a:p>
        </p:txBody>
      </p:sp>
      <p:sp>
        <p:nvSpPr>
          <p:cNvPr id="7" name="Flowchart: Direct Access Storage 6"/>
          <p:cNvSpPr/>
          <p:nvPr/>
        </p:nvSpPr>
        <p:spPr>
          <a:xfrm>
            <a:off x="2602524" y="5319345"/>
            <a:ext cx="293076" cy="19343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934866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Code implementation</a:t>
            </a:r>
            <a:br>
              <a:rPr lang="en-US" sz="3200" b="1" dirty="0" smtClean="0">
                <a:latin typeface="Bell MT" panose="02020503060305020303" pitchFamily="18" charset="0"/>
              </a:rPr>
            </a:br>
            <a:r>
              <a:rPr lang="en-US" sz="3200" b="1" dirty="0">
                <a:latin typeface="Bell MT" panose="02020503060305020303" pitchFamily="18" charset="0"/>
              </a:rPr>
              <a:t/>
            </a:r>
            <a:br>
              <a:rPr lang="en-US" sz="3200" b="1" dirty="0">
                <a:latin typeface="Bell MT" panose="02020503060305020303" pitchFamily="18" charset="0"/>
              </a:rPr>
            </a:br>
            <a:endParaRPr lang="en-US" sz="3200" b="1" dirty="0">
              <a:latin typeface="Bell MT" panose="02020503060305020303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023" y="3023069"/>
            <a:ext cx="5565531" cy="2463332"/>
          </a:xfrm>
        </p:spPr>
      </p:pic>
      <p:sp>
        <p:nvSpPr>
          <p:cNvPr id="5" name="TextBox 4"/>
          <p:cNvSpPr txBox="1"/>
          <p:nvPr/>
        </p:nvSpPr>
        <p:spPr>
          <a:xfrm>
            <a:off x="3103684" y="2584938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Python code :-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21070" y="1869052"/>
            <a:ext cx="8247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 Narrow" panose="020B0606020202030204" pitchFamily="34" charset="0"/>
                <a:cs typeface="Aparajita" panose="02020603050405020304" pitchFamily="18" charset="0"/>
              </a:rPr>
              <a:t>Code executed on Visual Studio Code  </a:t>
            </a:r>
            <a:endParaRPr lang="en-US" sz="2000" b="1" dirty="0">
              <a:latin typeface="Arial Narrow" panose="020B0606020202030204" pitchFamily="34" charset="0"/>
              <a:cs typeface="Aparajita" panose="02020603050405020304" pitchFamily="18" charset="0"/>
            </a:endParaRPr>
          </a:p>
        </p:txBody>
      </p:sp>
      <p:sp>
        <p:nvSpPr>
          <p:cNvPr id="7" name="Notched Right Arrow 6"/>
          <p:cNvSpPr/>
          <p:nvPr/>
        </p:nvSpPr>
        <p:spPr>
          <a:xfrm>
            <a:off x="764931" y="1952605"/>
            <a:ext cx="631582" cy="22788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5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Explanation + Complex Problem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083" y="2651760"/>
            <a:ext cx="9170377" cy="3836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 smtClean="0"/>
              <a:t>Explanation</a:t>
            </a:r>
            <a:r>
              <a:rPr lang="en-US" sz="2600" dirty="0" smtClean="0"/>
              <a:t> :-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 </a:t>
            </a:r>
            <a:r>
              <a:rPr lang="en-US" sz="2600" dirty="0" smtClean="0"/>
              <a:t>  Outer loop &gt;&gt; runs 4 times (rows).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 </a:t>
            </a:r>
            <a:r>
              <a:rPr lang="en-US" sz="2600" dirty="0" smtClean="0"/>
              <a:t>   Inner loop &gt;&gt; prints 4 starts per </a:t>
            </a:r>
          </a:p>
          <a:p>
            <a:pPr marL="457200" lvl="1" indent="0">
              <a:buNone/>
            </a:pPr>
            <a:r>
              <a:rPr lang="en-US" sz="2600" dirty="0" smtClean="0"/>
              <a:t>       row.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 </a:t>
            </a:r>
            <a:r>
              <a:rPr lang="en-US" sz="2600" dirty="0" smtClean="0"/>
              <a:t>  end = “ ” keeps stars on same line.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 smtClean="0"/>
              <a:t>   print() moves to next line.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8481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ADVANCED Concepts + ethics + conclusion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26440"/>
            <a:ext cx="5547946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 smtClean="0"/>
              <a:t>Advanced Concepts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dirty="0" smtClean="0"/>
              <a:t>Used in :-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2D arrays (matrices).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Game grids.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Image processing.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 smtClean="0"/>
              <a:t> Time Complexity : 0(n^2) (for </a:t>
            </a:r>
            <a:r>
              <a:rPr lang="en-US" sz="2400" dirty="0" smtClean="0"/>
              <a:t>     equal</a:t>
            </a: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loops).</a:t>
            </a:r>
          </a:p>
          <a:p>
            <a:pPr marL="457200" lvl="1" indent="0">
              <a:buNone/>
            </a:pPr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409592" y="2198077"/>
            <a:ext cx="51786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Professional Ethics :-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Write clean and readable code.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Maintain proper indentation.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Avoid unnecessary nested loops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   (performance issue).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 smtClean="0"/>
              <a:t>Test code for different inputs.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939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rved Up Ribbon 4"/>
          <p:cNvSpPr/>
          <p:nvPr/>
        </p:nvSpPr>
        <p:spPr>
          <a:xfrm>
            <a:off x="3604852" y="5258970"/>
            <a:ext cx="5319346" cy="1066020"/>
          </a:xfrm>
          <a:prstGeom prst="ellipseRibbon2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Bell MT" panose="02020503060305020303" pitchFamily="18" charset="0"/>
              </a:rPr>
              <a:t>CONCLUSION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147" y="2073323"/>
            <a:ext cx="6761285" cy="290497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800" b="1" dirty="0" smtClean="0">
                <a:latin typeface="Calisto MT" panose="02040603050505030304" pitchFamily="18" charset="0"/>
              </a:rPr>
              <a:t> Nested loops are powerful for solving structured and complex problems.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latin typeface="Calisto MT" panose="02040603050505030304" pitchFamily="18" charset="0"/>
              </a:rPr>
              <a:t> </a:t>
            </a:r>
            <a:r>
              <a:rPr lang="en-US" sz="2800" b="1" dirty="0" smtClean="0">
                <a:latin typeface="Calisto MT" panose="02040603050505030304" pitchFamily="18" charset="0"/>
              </a:rPr>
              <a:t>They help convert logic into organized code.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b="1" dirty="0">
                <a:latin typeface="Calisto MT" panose="02040603050505030304" pitchFamily="18" charset="0"/>
              </a:rPr>
              <a:t> </a:t>
            </a:r>
            <a:r>
              <a:rPr lang="en-US" sz="2800" b="1" dirty="0" smtClean="0">
                <a:latin typeface="Calisto MT" panose="02040603050505030304" pitchFamily="18" charset="0"/>
              </a:rPr>
              <a:t>Essential concept in programming and real-world applications.</a:t>
            </a:r>
            <a:endParaRPr lang="en-US" sz="2800" b="1" dirty="0">
              <a:latin typeface="Calisto MT" panose="0204060305050503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67662" y="5338101"/>
            <a:ext cx="2813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FF00"/>
                </a:solidFill>
                <a:latin typeface="Algerian" panose="04020705040A02060702" pitchFamily="82" charset="0"/>
              </a:rPr>
              <a:t>THANK YOU</a:t>
            </a:r>
            <a:endParaRPr lang="en-US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69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523</TotalTime>
  <Words>552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Algerian</vt:lpstr>
      <vt:lpstr>Aparajita</vt:lpstr>
      <vt:lpstr>Arial</vt:lpstr>
      <vt:lpstr>Arial Narrow</vt:lpstr>
      <vt:lpstr>Arial Rounded MT Bold</vt:lpstr>
      <vt:lpstr>Bell MT</vt:lpstr>
      <vt:lpstr>Calisto MT</vt:lpstr>
      <vt:lpstr>Century Gothic</vt:lpstr>
      <vt:lpstr>Courier New</vt:lpstr>
      <vt:lpstr>Wingdings</vt:lpstr>
      <vt:lpstr>Vapor Trail</vt:lpstr>
      <vt:lpstr>Python Presentation</vt:lpstr>
      <vt:lpstr>                                               LEARNING OBJECTIVES                                                                                                                                                                                                                         Mechanism of                                                                                                                           for loop                               </vt:lpstr>
      <vt:lpstr>ENGINEERING     KNOWLEDGE (CONCEPT)</vt:lpstr>
      <vt:lpstr>Engineering knowledge (Nested loop concept)</vt:lpstr>
      <vt:lpstr>Syntax &amp; structure</vt:lpstr>
      <vt:lpstr>Execution flow  (deep Understanding)</vt:lpstr>
      <vt:lpstr>Problem STATEMENT </vt:lpstr>
      <vt:lpstr>Problem analysis</vt:lpstr>
      <vt:lpstr>Design of Solution (algorithm)</vt:lpstr>
      <vt:lpstr>Code implementation  </vt:lpstr>
      <vt:lpstr>Explanation + Complex Problem</vt:lpstr>
      <vt:lpstr>ADVANCED Concepts + ethics + 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Presentation</dc:title>
  <dc:creator>Karan Sharma</dc:creator>
  <cp:lastModifiedBy>Karan Sharma</cp:lastModifiedBy>
  <cp:revision>28</cp:revision>
  <dcterms:created xsi:type="dcterms:W3CDTF">2026-03-29T11:47:13Z</dcterms:created>
  <dcterms:modified xsi:type="dcterms:W3CDTF">2026-04-02T14:59:51Z</dcterms:modified>
</cp:coreProperties>
</file>